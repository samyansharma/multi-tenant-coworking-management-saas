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9"/>
  </p:notesMasterIdLst>
  <p:sldIdLst>
    <p:sldId id="281" r:id="rId2"/>
    <p:sldId id="313" r:id="rId3"/>
    <p:sldId id="315" r:id="rId4"/>
    <p:sldId id="327" r:id="rId5"/>
    <p:sldId id="328" r:id="rId6"/>
    <p:sldId id="326" r:id="rId7"/>
    <p:sldId id="329" r:id="rId8"/>
    <p:sldId id="331" r:id="rId9"/>
    <p:sldId id="318" r:id="rId10"/>
    <p:sldId id="319" r:id="rId11"/>
    <p:sldId id="330" r:id="rId12"/>
    <p:sldId id="320" r:id="rId13"/>
    <p:sldId id="321" r:id="rId14"/>
    <p:sldId id="322" r:id="rId15"/>
    <p:sldId id="323" r:id="rId16"/>
    <p:sldId id="324" r:id="rId17"/>
    <p:sldId id="314" r:id="rId18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BC1FE-0D27-420D-ACF3-3E7C3392696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22932-FB73-4B31-94D5-4A7F88516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4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22932-FB73-4B31-94D5-4A7F88516CB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52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07541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784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6596227-011B-00F5-F390-BFE1CBC5D6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475" y="220084"/>
            <a:ext cx="1974850" cy="84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72E63F-589D-8B42-99FD-D388EA2B82A4}"/>
              </a:ext>
            </a:extLst>
          </p:cNvPr>
          <p:cNvSpPr txBox="1"/>
          <p:nvPr/>
        </p:nvSpPr>
        <p:spPr>
          <a:xfrm>
            <a:off x="152400" y="925110"/>
            <a:ext cx="8991600" cy="4607671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Coworking Management SaaS</a:t>
            </a: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(Course Code: 25CS022)</a:t>
            </a: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Samyan Sharma (2411981646)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Arpit Khanal (2411981649)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Prakriti Shrestha (2411981652)</a:t>
            </a:r>
          </a:p>
          <a:p>
            <a:pPr marL="514350" marR="8255" indent="-514350">
              <a:spcBef>
                <a:spcPts val="330"/>
              </a:spcBef>
              <a:buFontTx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Nitesh Kumar Sah (2411981663)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4690CBE-8CEE-F5EE-CA89-DCBB31B742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5E98-559D-0B30-1BB5-3C3416B3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0A92-C317-8104-6A6E-8031D6C90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6388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 (DFD)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Implemented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13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0AA6-0F7A-B012-0F6E-D5D0F5F3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02F24-35B3-990F-D126-17463CD52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Multi-Tenant Coworking Management SaaS is a web platform that lets independent coworking operators run their space on one shared application, while each space’s data stays isolated from every other space.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see a live floor plan, book desks and rooms, and pay online. Managers configure their space, pricing, and payouts. A platform administrator oversees every space.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spcBef>
                <a:spcPts val="2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Tenant isolation enforced in the application layer, using a space ID taken from the JWT and re-verified on every request</a:t>
            </a:r>
          </a:p>
          <a:p>
            <a:pPr>
              <a:spcBef>
                <a:spcPts val="2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Double-booking prevented by a PostgreSQL exclusion constraint, not just by UI checks</a:t>
            </a:r>
          </a:p>
          <a:p>
            <a:pPr>
              <a:spcBef>
                <a:spcPts val="2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floor plan updates with Socket.io, one room per space</a:t>
            </a:r>
          </a:p>
          <a:p>
            <a:pPr>
              <a:spcBef>
                <a:spcPts val="2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95/5 payment split through Stripe Connect (test mode)</a:t>
            </a:r>
          </a:p>
          <a:p>
            <a:pPr>
              <a:spcBef>
                <a:spcPts val="2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delete instead of hard delete, so booking and payment history is preserved</a:t>
            </a:r>
          </a:p>
        </p:txBody>
      </p:sp>
    </p:spTree>
    <p:extLst>
      <p:ext uri="{BB962C8B-B14F-4D97-AF65-F5344CB8AC3E}">
        <p14:creationId xmlns:p14="http://schemas.microsoft.com/office/powerpoint/2010/main" val="66621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5DE63-D083-4C92-106C-5D33C1DA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7381-D24A-4B12-1DB6-25EA053F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EF73A-1170-C8CC-2B5B-CF2714096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Business-to-Business (B2B) SaaS platform for independent coworking operators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coworking space is a tenant; all tenants share one application and one database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manager can hold only one live space at a time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</a:t>
            </a:r>
          </a:p>
          <a:p>
            <a:pPr>
              <a:spcBef>
                <a:spcPts val="2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signup (manager creates a space, member joins one)</a:t>
            </a:r>
          </a:p>
          <a:p>
            <a:pPr>
              <a:spcBef>
                <a:spcPts val="2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Space, Zone, and Desk / Room management</a:t>
            </a:r>
          </a:p>
          <a:p>
            <a:pPr>
              <a:spcBef>
                <a:spcPts val="2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with a 15-minute payment hold</a:t>
            </a:r>
          </a:p>
          <a:p>
            <a:pPr>
              <a:spcBef>
                <a:spcPts val="2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Payments: Stripe Connect onboarding, split charges, retry, reconciliation</a:t>
            </a:r>
          </a:p>
          <a:p>
            <a:pPr>
              <a:spcBef>
                <a:spcPts val="2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floor plan (Socket.io)</a:t>
            </a:r>
          </a:p>
          <a:p>
            <a:pPr>
              <a:spcBef>
                <a:spcPts val="2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Lifecycle and administration: soft delete, cancel-and-refund, platform overview, public space directory</a:t>
            </a:r>
          </a:p>
        </p:txBody>
      </p:sp>
    </p:spTree>
    <p:extLst>
      <p:ext uri="{BB962C8B-B14F-4D97-AF65-F5344CB8AC3E}">
        <p14:creationId xmlns:p14="http://schemas.microsoft.com/office/powerpoint/2010/main" val="120878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4F25-7239-A138-97CD-BACA7B8A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4AD83-6659-B837-2E5F-77097C5C4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150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Administrator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Seeded account; no self-service signup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platform-wide metrics and lists every space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Drills into any space: zones, members, paginated transactions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Manager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Signup creates exactly one space with the manager account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zones, desks, and rooms; sets hourly/daily prices for each item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Onboards to Stripe Connect; views space analytics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Renames or soft-deletes resources; affected bookings are cancelled and refunded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</a:t>
            </a: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a space from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public directory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desks and rooms, pays by card, views own bookings</a:t>
            </a:r>
          </a:p>
        </p:txBody>
      </p:sp>
    </p:spTree>
    <p:extLst>
      <p:ext uri="{BB962C8B-B14F-4D97-AF65-F5344CB8AC3E}">
        <p14:creationId xmlns:p14="http://schemas.microsoft.com/office/powerpoint/2010/main" val="42189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DE384-2F0B-A09B-0033-BF7895B5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1782-8250-C6DB-8DBB-AB6D3FD7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21208-7B96-6C67-F27D-7D3163267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16 (App Router), React 19, Tailwind CSS 4, Zustand 5, socket.io-client, Stripe React SDK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NestJS 11, Prisma 7 with the pg driver adapter, JWT with bcryptjs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16 with the btree_gist extension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 4, one room per space, JWT-authenticated handshake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Connect (Accounts v2), Payment Element, webhooks; test mode only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Tooling: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Jest, Vitest,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1965918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C1320-AF2E-5FCE-8E9B-EEBC9395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AE91-D9F9-112D-F9E8-58C5A86B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High-level architecture" descr="High-level archite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150000"/>
            <a:ext cx="2989285" cy="5400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4100000" y="1500000"/>
            <a:ext cx="4600000" cy="43000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 order: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JwtAuthGuard, then TenantGuard, then RbacGuard on every request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client, NestJS services, Prisma, PostgreSQL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payments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off the business logic layer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conflicts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decided in PostgreSQL, not in application code</a:t>
            </a:r>
          </a:p>
        </p:txBody>
      </p:sp>
    </p:spTree>
    <p:extLst>
      <p:ext uri="{BB962C8B-B14F-4D97-AF65-F5344CB8AC3E}">
        <p14:creationId xmlns:p14="http://schemas.microsoft.com/office/powerpoint/2010/main" val="3615371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5DE63-D083-4C92-106C-5D33C1DA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7381-D24A-4B12-1DB6-25EA053F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Design Decisions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EF73A-1170-C8CC-2B5B-CF2714096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Tenant isolation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schema; TenantGuard takes the space ID from the JWT, services re-check the relation chain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Double-booking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 USING gist over the booking time range; the database decides, the API returns 409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charges with a 5% platform fee; card data handled only by Stripe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lifecycle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delete (deletedAt); foreign keys on User and Booking set to RESTRICT; refunds on deletion</a:t>
            </a:r>
          </a:p>
        </p:txBody>
      </p:sp>
    </p:spTree>
    <p:extLst>
      <p:ext uri="{BB962C8B-B14F-4D97-AF65-F5344CB8AC3E}">
        <p14:creationId xmlns:p14="http://schemas.microsoft.com/office/powerpoint/2010/main" val="120878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8FC67-5BB3-9CBE-DFBE-CA424647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18F9-D828-46CC-0F2A-0540D532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51EE-53C4-F4CF-788C-4D155D254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1200" dirty="0"/>
              <a:t> </a:t>
            </a:r>
          </a:p>
        </p:txBody>
      </p:sp>
      <p:pic>
        <p:nvPicPr>
          <p:cNvPr id="103" name="Entity-relationship diagram" descr="Entity-relationship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62" y="1150000"/>
            <a:ext cx="7530275" cy="4500000"/>
          </a:xfrm>
          <a:prstGeom prst="rect">
            <a:avLst/>
          </a:prstGeom>
        </p:spPr>
      </p:pic>
      <p:sp>
        <p:nvSpPr>
          <p:cNvPr id="104" name="TextBox 104"/>
          <p:cNvSpPr txBox="1"/>
          <p:nvPr/>
        </p:nvSpPr>
        <p:spPr>
          <a:xfrm>
            <a:off x="457200" y="5730000"/>
            <a:ext cx="8229600" cy="7000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entities: Space, Zone, Desk, Room, User, Booking. A booking points to a desk or room through bookableType and bookableId, with no foreign key.</a:t>
            </a:r>
          </a:p>
        </p:txBody>
      </p:sp>
    </p:spTree>
    <p:extLst>
      <p:ext uri="{BB962C8B-B14F-4D97-AF65-F5344CB8AC3E}">
        <p14:creationId xmlns:p14="http://schemas.microsoft.com/office/powerpoint/2010/main" val="20905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C0652-7801-1B82-F81F-059235A8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F071-8BC6-A716-BA70-04824A33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 Level 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" name="Level 0 DFD" descr="Level 0 DF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14" y="1300000"/>
            <a:ext cx="6136170" cy="4200000"/>
          </a:xfrm>
          <a:prstGeom prst="rect">
            <a:avLst/>
          </a:prstGeom>
        </p:spPr>
      </p:pic>
      <p:sp>
        <p:nvSpPr>
          <p:cNvPr id="106" name="TextBox 106"/>
          <p:cNvSpPr txBox="1"/>
          <p:nvPr/>
        </p:nvSpPr>
        <p:spPr>
          <a:xfrm>
            <a:off x="457200" y="5600000"/>
            <a:ext cx="8229600" cy="7000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actors and two external systems (PostgreSQL and Stripe) around one central process.</a:t>
            </a:r>
          </a:p>
        </p:txBody>
      </p:sp>
    </p:spTree>
    <p:extLst>
      <p:ext uri="{BB962C8B-B14F-4D97-AF65-F5344CB8AC3E}">
        <p14:creationId xmlns:p14="http://schemas.microsoft.com/office/powerpoint/2010/main" val="343559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2B1F5-01EC-2EB0-2CE0-3D72D5368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 Level 1</a:t>
            </a:r>
            <a:endParaRPr lang="en-IN" dirty="0"/>
          </a:p>
        </p:txBody>
      </p:sp>
      <p:pic>
        <p:nvPicPr>
          <p:cNvPr id="107" name="Level 1 DFD" descr="Level 1 DF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0000"/>
            <a:ext cx="3000000" cy="5071823"/>
          </a:xfrm>
          <a:prstGeom prst="rect">
            <a:avLst/>
          </a:prstGeom>
        </p:spPr>
      </p:pic>
      <p:sp>
        <p:nvSpPr>
          <p:cNvPr id="108" name="TextBox 108"/>
          <p:cNvSpPr txBox="1"/>
          <p:nvPr/>
        </p:nvSpPr>
        <p:spPr>
          <a:xfrm>
            <a:off x="4000000" y="1400000"/>
            <a:ext cx="4700000" cy="46000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credentials, issues a JWT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management: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availability; the exclusion constraint blocks overlaps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destination charge (95/5); webhook updates status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broadcast: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booking_created sent to the space’s Socket.io room</a:t>
            </a:r>
          </a:p>
        </p:txBody>
      </p:sp>
    </p:spTree>
    <p:extLst>
      <p:ext uri="{BB962C8B-B14F-4D97-AF65-F5344CB8AC3E}">
        <p14:creationId xmlns:p14="http://schemas.microsoft.com/office/powerpoint/2010/main" val="118011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0F12-B649-B370-8724-3CBCAD0E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40A5-4B86-32BD-2D61-19274DFD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Implemented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F39D3-4AFF-B113-03EA-025033166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isolation: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JWT-derived space ID, re-verified per request; 404 on cross-tenant access</a:t>
            </a:r>
          </a:p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Administrator, Space Manager, Member</a:t>
            </a:r>
          </a:p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floor plan: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changes reach all connected clients</a:t>
            </a:r>
          </a:p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prevention: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exclusion constraint </a:t>
            </a:r>
          </a:p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holds: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reserved for 15 minutes awaiting payment</a:t>
            </a:r>
          </a:p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Connect payments: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95/5 split, retry, self-healing status reconciliation</a:t>
            </a:r>
          </a:p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analytics: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revenue, utilization, 30-day trends, bookings per zone</a:t>
            </a:r>
          </a:p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delete and cancel-and-refund: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two-step confirmation, live floor plan removal</a:t>
            </a:r>
          </a:p>
          <a:p>
            <a:pPr>
              <a:spcBef>
                <a:spcPts val="200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overview and drill-down; public space directory</a:t>
            </a:r>
          </a:p>
        </p:txBody>
      </p:sp>
    </p:spTree>
    <p:extLst>
      <p:ext uri="{BB962C8B-B14F-4D97-AF65-F5344CB8AC3E}">
        <p14:creationId xmlns:p14="http://schemas.microsoft.com/office/powerpoint/2010/main" val="3558974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A7C67-3979-0CB9-F8BE-1E543BDAB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A8E6-8A6A-8A87-035B-6F7C97CF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A6A02-6B7D-E641-9AB2-ADB8AAA91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9" name="Manager dashboar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655" y="1050000"/>
            <a:ext cx="4180689" cy="2008563"/>
          </a:xfrm>
          <a:prstGeom prst="rect">
            <a:avLst/>
          </a:prstGeom>
        </p:spPr>
      </p:pic>
      <p:sp>
        <p:nvSpPr>
          <p:cNvPr id="110" name="TextBox 110"/>
          <p:cNvSpPr txBox="1"/>
          <p:nvPr/>
        </p:nvSpPr>
        <p:spPr>
          <a:xfrm>
            <a:off x="250000" y="3068563"/>
            <a:ext cx="4200000" cy="3300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ctr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analytics dashboard</a:t>
            </a:r>
          </a:p>
        </p:txBody>
      </p:sp>
      <p:pic>
        <p:nvPicPr>
          <p:cNvPr id="111" name="Zone floor pla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4000" y="1050220"/>
            <a:ext cx="4200000" cy="1995931"/>
          </a:xfrm>
          <a:prstGeom prst="rect">
            <a:avLst/>
          </a:prstGeom>
        </p:spPr>
      </p:pic>
      <p:sp>
        <p:nvSpPr>
          <p:cNvPr id="112" name="TextBox 112"/>
          <p:cNvSpPr txBox="1"/>
          <p:nvPr/>
        </p:nvSpPr>
        <p:spPr>
          <a:xfrm>
            <a:off x="4694000" y="3056371"/>
            <a:ext cx="4200000" cy="3300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ctr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floor plan</a:t>
            </a:r>
          </a:p>
        </p:txBody>
      </p:sp>
      <p:pic>
        <p:nvPicPr>
          <p:cNvPr id="113" name="Member booking flow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527" y="3620000"/>
            <a:ext cx="4188946" cy="1999419"/>
          </a:xfrm>
          <a:prstGeom prst="rect">
            <a:avLst/>
          </a:prstGeom>
        </p:spPr>
      </p:pic>
      <p:sp>
        <p:nvSpPr>
          <p:cNvPr id="114" name="TextBox 114"/>
          <p:cNvSpPr txBox="1"/>
          <p:nvPr/>
        </p:nvSpPr>
        <p:spPr>
          <a:xfrm>
            <a:off x="250000" y="5629419"/>
            <a:ext cx="4200000" cy="3300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ctr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admin overview</a:t>
            </a:r>
          </a:p>
        </p:txBody>
      </p:sp>
      <p:pic>
        <p:nvPicPr>
          <p:cNvPr id="115" name="Manager bookings list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4000" y="3620410"/>
            <a:ext cx="4200000" cy="2004694"/>
          </a:xfrm>
          <a:prstGeom prst="rect">
            <a:avLst/>
          </a:prstGeom>
        </p:spPr>
      </p:pic>
      <p:sp>
        <p:nvSpPr>
          <p:cNvPr id="116" name="TextBox 116"/>
          <p:cNvSpPr txBox="1"/>
          <p:nvPr/>
        </p:nvSpPr>
        <p:spPr>
          <a:xfrm>
            <a:off x="4694000" y="5635515"/>
            <a:ext cx="4200000" cy="3300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ctr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bookings list</a:t>
            </a:r>
          </a:p>
        </p:txBody>
      </p:sp>
    </p:spTree>
    <p:extLst>
      <p:ext uri="{BB962C8B-B14F-4D97-AF65-F5344CB8AC3E}">
        <p14:creationId xmlns:p14="http://schemas.microsoft.com/office/powerpoint/2010/main" val="215277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4DBF-F8A3-89CF-EC2D-2653C89E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96D9-D013-B9C2-D55C-2D5C2845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B6D7-37CF-AB19-0866-43E45793D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7841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Tenant isolation without database row security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with a two-layer guard: TenantGuard reads the space from the JWT, and each service re-verifies ownership through the relation chain.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bookings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by moving the check into PostgreSQL with an exclusion constraint; the API maps the error to HTTP 409.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Connect onboarding restriction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by allowing a booking to be created unpaid and paid later while the account setup was fixed.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delete versus financial reporting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with a stable Booking.spaceId reference, so revenue no longer depends on live desk or room rows.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payload exposing too much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in review: the broadcast included payment fields. </a:t>
            </a:r>
          </a:p>
        </p:txBody>
      </p:sp>
    </p:spTree>
    <p:extLst>
      <p:ext uri="{BB962C8B-B14F-4D97-AF65-F5344CB8AC3E}">
        <p14:creationId xmlns:p14="http://schemas.microsoft.com/office/powerpoint/2010/main" val="34186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17C8-5B30-9AF3-F94B-4064A5F2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9FE8-31A1-B274-64D3-CE39213C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7FDC7-8D81-9FF5-BB78-414C00ED7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closure and recreation 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Re-verify the booking overlap constraint on the live development database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the start:prod script and add a backend .env.example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rate limiting and Helmet to login and signup endpoints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Refresh the stale end-to-end tests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 the real-time booking payload for non-owning members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hosting environment and deploy</a:t>
            </a:r>
          </a:p>
        </p:txBody>
      </p:sp>
    </p:spTree>
    <p:extLst>
      <p:ext uri="{BB962C8B-B14F-4D97-AF65-F5344CB8AC3E}">
        <p14:creationId xmlns:p14="http://schemas.microsoft.com/office/powerpoint/2010/main" val="3244465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180F-C3B5-4C6C-CBE9-EC02232E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E758-D6EB-BAE0-AD84-B23F9606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CB14C-F625-A8D8-3D11-38FE355C8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delivers a working multi-tenant backend: JWT authentication, application-layer tenant isolation, a database-enforced guarantee against double-booking, real-time floor plans, and automatic Stripe Connect payment splitting. Soft delete with cancel-and-refund, a platform overview, and a public space directory are also merged. Only space closure and recreation remains from the approved scope.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Application-layer tenant isolation with 404 rather than 403 on cross-tenant access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Race-condition-free bookings through a database exclusion constraint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synchronisation across connected clients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95/5 payments with retry and reconciliation</a:t>
            </a:r>
          </a:p>
          <a:p>
            <a:pPr>
              <a:spcBef>
                <a:spcPts val="200"/>
              </a:spcBef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Soft-delete and refund lifecycle that preserves payment history</a:t>
            </a:r>
          </a:p>
        </p:txBody>
      </p:sp>
    </p:spTree>
    <p:extLst>
      <p:ext uri="{BB962C8B-B14F-4D97-AF65-F5344CB8AC3E}">
        <p14:creationId xmlns:p14="http://schemas.microsoft.com/office/powerpoint/2010/main" val="1303860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2B35-F619-A6C4-D183-0905E3C8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172C5-9053-2A04-F2AC-F10C8CBF3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91941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2536</TotalTime>
  <Words>1128</Words>
  <Application>Microsoft Office PowerPoint</Application>
  <PresentationFormat>On-screen Show (4:3)</PresentationFormat>
  <Paragraphs>138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Theme1</vt:lpstr>
      <vt:lpstr>PowerPoint Presentation</vt:lpstr>
      <vt:lpstr>Index</vt:lpstr>
      <vt:lpstr>Introduction</vt:lpstr>
      <vt:lpstr>Project Description</vt:lpstr>
      <vt:lpstr>Project Description</vt:lpstr>
      <vt:lpstr>System Architecture &amp; Design</vt:lpstr>
      <vt:lpstr>System Architecture &amp; Design</vt:lpstr>
      <vt:lpstr>Key Design Decisions</vt:lpstr>
      <vt:lpstr>Database Design</vt:lpstr>
      <vt:lpstr>Data Flow Diagram: Level 0</vt:lpstr>
      <vt:lpstr>Data Flow Diagram: Level 1</vt:lpstr>
      <vt:lpstr>Features Implemented</vt:lpstr>
      <vt:lpstr>Screenshots</vt:lpstr>
      <vt:lpstr>Challenges Faced</vt:lpstr>
      <vt:lpstr>Future Enhancements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Samyan Sharma</cp:lastModifiedBy>
  <cp:revision>172</cp:revision>
  <dcterms:created xsi:type="dcterms:W3CDTF">2024-07-10T18:26:37Z</dcterms:created>
  <dcterms:modified xsi:type="dcterms:W3CDTF">2026-10-03T17:54:47Z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